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73" r:id="rId15"/>
    <p:sldId id="272" r:id="rId16"/>
    <p:sldId id="274" r:id="rId17"/>
    <p:sldId id="275" r:id="rId18"/>
    <p:sldId id="278" r:id="rId19"/>
    <p:sldId id="265" r:id="rId20"/>
    <p:sldId id="266" r:id="rId21"/>
    <p:sldId id="267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21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658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745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246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70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105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070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441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400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77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815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53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148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127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645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773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64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84368BE-6184-4490-B5FD-6045C56F5583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2D78256F-9E42-4AD1-A34B-F80B9424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550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2387600"/>
          </a:xfrm>
        </p:spPr>
        <p:txBody>
          <a:bodyPr/>
          <a:lstStyle/>
          <a:p>
            <a:r>
              <a:rPr lang="en-IN" b="1" dirty="0" smtClean="0"/>
              <a:t>Campus Research Workflow Manager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04733"/>
            <a:ext cx="9144000" cy="1655762"/>
          </a:xfrm>
        </p:spPr>
        <p:txBody>
          <a:bodyPr/>
          <a:lstStyle/>
          <a:p>
            <a:r>
              <a:rPr lang="en-IN" b="1" dirty="0" smtClean="0"/>
              <a:t>A flutter based CRUD application using Back4App (Baa)</a:t>
            </a:r>
            <a:endParaRPr lang="en-IN" b="1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607288" y="4446717"/>
            <a:ext cx="4507831" cy="1443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b="1" dirty="0" smtClean="0"/>
              <a:t>Submitted By</a:t>
            </a:r>
          </a:p>
          <a:p>
            <a:pPr algn="r"/>
            <a:r>
              <a:rPr lang="en-IN" b="1" dirty="0" smtClean="0"/>
              <a:t>S. </a:t>
            </a:r>
            <a:r>
              <a:rPr lang="en-IN" b="1" dirty="0" err="1" smtClean="0"/>
              <a:t>Saravanan</a:t>
            </a:r>
            <a:endParaRPr lang="en-IN" b="1" dirty="0" smtClean="0"/>
          </a:p>
          <a:p>
            <a:pPr algn="r"/>
            <a:r>
              <a:rPr lang="en-IN" b="1" dirty="0" smtClean="0"/>
              <a:t>2024TM93617</a:t>
            </a:r>
          </a:p>
          <a:p>
            <a:pPr algn="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80840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Project Overview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Campus Research Workflow Manager is a Flutter-based application developed to help students manage their daily academic and research-related tasks efficiently.</a:t>
            </a:r>
          </a:p>
          <a:p>
            <a:pPr marL="0" indent="0">
              <a:buNone/>
            </a:pPr>
            <a:r>
              <a:rPr lang="en-US" dirty="0" smtClean="0"/>
              <a:t>The app uses Back4App (Backend-as-a-Service) for:</a:t>
            </a:r>
          </a:p>
          <a:p>
            <a:r>
              <a:rPr lang="en-US" dirty="0" smtClean="0"/>
              <a:t>User Authentication </a:t>
            </a:r>
          </a:p>
          <a:p>
            <a:r>
              <a:rPr lang="en-US" dirty="0" smtClean="0"/>
              <a:t>Cloud Database Storage </a:t>
            </a:r>
          </a:p>
          <a:p>
            <a:r>
              <a:rPr lang="en-US" dirty="0" smtClean="0"/>
              <a:t>Real-time CRUD Operations </a:t>
            </a:r>
          </a:p>
          <a:p>
            <a:r>
              <a:rPr lang="en-US" dirty="0" smtClean="0"/>
              <a:t>Secure Logout </a:t>
            </a:r>
          </a:p>
          <a:p>
            <a:pPr marL="0" indent="0">
              <a:buNone/>
            </a:pPr>
            <a:r>
              <a:rPr lang="en-US" dirty="0" smtClean="0"/>
              <a:t>This removes the need to develop a custom backend server.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281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Problem Statement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Students often struggle with:</a:t>
            </a:r>
          </a:p>
          <a:p>
            <a:r>
              <a:rPr lang="en-US" dirty="0" smtClean="0"/>
              <a:t>Managing assignment deadlines </a:t>
            </a:r>
          </a:p>
          <a:p>
            <a:r>
              <a:rPr lang="en-US" dirty="0" smtClean="0"/>
              <a:t>Tracking project progress </a:t>
            </a:r>
          </a:p>
          <a:p>
            <a:r>
              <a:rPr lang="en-US" dirty="0" smtClean="0"/>
              <a:t>Organizing academic tasks </a:t>
            </a:r>
          </a:p>
          <a:p>
            <a:r>
              <a:rPr lang="en-US" dirty="0" smtClean="0"/>
              <a:t>Maintaining research workflow </a:t>
            </a:r>
          </a:p>
          <a:p>
            <a:pPr marL="0" indent="0">
              <a:buNone/>
            </a:pPr>
            <a:r>
              <a:rPr lang="en-US" dirty="0" smtClean="0"/>
              <a:t>This app solves these issues by providing a centralized task management platform.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2889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Usage of Back4App(Baas)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1910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/>
              <a:t>Advantages:</a:t>
            </a:r>
          </a:p>
          <a:p>
            <a:r>
              <a:rPr lang="en-IN" dirty="0" smtClean="0"/>
              <a:t>No backend coding required</a:t>
            </a:r>
          </a:p>
          <a:p>
            <a:r>
              <a:rPr lang="en-IN" dirty="0" smtClean="0"/>
              <a:t> Ready-made Authentication System</a:t>
            </a:r>
          </a:p>
          <a:p>
            <a:r>
              <a:rPr lang="en-IN" dirty="0" smtClean="0"/>
              <a:t>Cloud Database Support</a:t>
            </a:r>
          </a:p>
          <a:p>
            <a:r>
              <a:rPr lang="en-IN" dirty="0" smtClean="0"/>
              <a:t>Real-time Data Sync</a:t>
            </a:r>
          </a:p>
          <a:p>
            <a:r>
              <a:rPr lang="en-IN" dirty="0" smtClean="0"/>
              <a:t>Fast Deployment</a:t>
            </a:r>
          </a:p>
          <a:p>
            <a:r>
              <a:rPr lang="en-IN" dirty="0" smtClean="0"/>
              <a:t> Scalable and Secure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This helps developers focus mainly on Flutter frontend development.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4480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Technology Stack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089" y="2290194"/>
            <a:ext cx="10822496" cy="4810131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IN" b="1" dirty="0" smtClean="0"/>
              <a:t>Frontend</a:t>
            </a:r>
          </a:p>
          <a:p>
            <a:r>
              <a:rPr lang="en-IN" dirty="0" smtClean="0"/>
              <a:t>Flutter </a:t>
            </a:r>
          </a:p>
          <a:p>
            <a:r>
              <a:rPr lang="en-IN" dirty="0" smtClean="0"/>
              <a:t>Dart </a:t>
            </a:r>
          </a:p>
          <a:p>
            <a:pPr marL="0" indent="0">
              <a:buNone/>
            </a:pPr>
            <a:r>
              <a:rPr lang="en-IN" b="1" dirty="0" smtClean="0"/>
              <a:t>Backend</a:t>
            </a:r>
          </a:p>
          <a:p>
            <a:r>
              <a:rPr lang="en-IN" dirty="0" smtClean="0"/>
              <a:t>Back4App </a:t>
            </a:r>
          </a:p>
          <a:p>
            <a:r>
              <a:rPr lang="en-IN" dirty="0" smtClean="0"/>
              <a:t>Parse Server SDK </a:t>
            </a:r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Database</a:t>
            </a:r>
          </a:p>
          <a:p>
            <a:r>
              <a:rPr lang="en-IN" dirty="0" smtClean="0"/>
              <a:t>Back4App Cloud Database </a:t>
            </a:r>
          </a:p>
          <a:p>
            <a:pPr marL="0" indent="0">
              <a:buNone/>
            </a:pPr>
            <a:r>
              <a:rPr lang="en-IN" b="1" dirty="0" smtClean="0"/>
              <a:t>Version Control</a:t>
            </a:r>
          </a:p>
          <a:p>
            <a:r>
              <a:rPr lang="en-IN" dirty="0" smtClean="0"/>
              <a:t>GitHub </a:t>
            </a:r>
          </a:p>
          <a:p>
            <a:endParaRPr lang="en-IN" dirty="0"/>
          </a:p>
          <a:p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Development Environment</a:t>
            </a:r>
          </a:p>
          <a:p>
            <a:r>
              <a:rPr lang="en-IN" dirty="0" smtClean="0"/>
              <a:t>Android Studio </a:t>
            </a:r>
          </a:p>
          <a:p>
            <a:r>
              <a:rPr lang="en-IN" dirty="0" smtClean="0"/>
              <a:t>VS Code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631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Key Features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811" y="2404465"/>
            <a:ext cx="10515600" cy="4735596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IN" b="1" dirty="0" smtClean="0"/>
              <a:t>User Authentication</a:t>
            </a:r>
          </a:p>
          <a:p>
            <a:r>
              <a:rPr lang="en-IN" dirty="0" smtClean="0"/>
              <a:t>Register using student email </a:t>
            </a:r>
          </a:p>
          <a:p>
            <a:r>
              <a:rPr lang="en-IN" dirty="0" smtClean="0"/>
              <a:t>Secure Login 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Task CRUD Operations</a:t>
            </a:r>
          </a:p>
          <a:p>
            <a:r>
              <a:rPr lang="en-IN" dirty="0" smtClean="0"/>
              <a:t>Create Tasks </a:t>
            </a:r>
          </a:p>
          <a:p>
            <a:r>
              <a:rPr lang="en-IN" dirty="0" smtClean="0"/>
              <a:t>Read Tasks </a:t>
            </a:r>
          </a:p>
          <a:p>
            <a:r>
              <a:rPr lang="en-IN" dirty="0" smtClean="0"/>
              <a:t>Update Tasks </a:t>
            </a:r>
          </a:p>
          <a:p>
            <a:r>
              <a:rPr lang="en-IN" dirty="0" smtClean="0"/>
              <a:t>Delete Tasks </a:t>
            </a:r>
          </a:p>
          <a:p>
            <a:endParaRPr lang="en-IN" dirty="0"/>
          </a:p>
          <a:p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Additional Features</a:t>
            </a:r>
          </a:p>
          <a:p>
            <a:r>
              <a:rPr lang="en-IN" dirty="0" smtClean="0"/>
              <a:t>Priority Selection </a:t>
            </a:r>
          </a:p>
          <a:p>
            <a:r>
              <a:rPr lang="en-IN" dirty="0" smtClean="0"/>
              <a:t>Status Tracking </a:t>
            </a:r>
          </a:p>
          <a:p>
            <a:r>
              <a:rPr lang="en-IN" dirty="0" smtClean="0"/>
              <a:t>Deadline Selection </a:t>
            </a:r>
          </a:p>
          <a:p>
            <a:r>
              <a:rPr lang="en-IN" dirty="0" smtClean="0"/>
              <a:t>Secure Logout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1172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Application Workflow</a:t>
            </a:r>
            <a:endParaRPr lang="en-IN" b="1" dirty="0"/>
          </a:p>
        </p:txBody>
      </p:sp>
      <p:grpSp>
        <p:nvGrpSpPr>
          <p:cNvPr id="41" name="Group 40"/>
          <p:cNvGrpSpPr/>
          <p:nvPr/>
        </p:nvGrpSpPr>
        <p:grpSpPr>
          <a:xfrm>
            <a:off x="1073791" y="2914292"/>
            <a:ext cx="10001150" cy="2848127"/>
            <a:chOff x="1073791" y="2234783"/>
            <a:chExt cx="10001150" cy="2848127"/>
          </a:xfrm>
        </p:grpSpPr>
        <p:grpSp>
          <p:nvGrpSpPr>
            <p:cNvPr id="12" name="Group 11"/>
            <p:cNvGrpSpPr/>
            <p:nvPr/>
          </p:nvGrpSpPr>
          <p:grpSpPr>
            <a:xfrm>
              <a:off x="1073791" y="2306972"/>
              <a:ext cx="2630903" cy="1132514"/>
              <a:chOff x="1073791" y="2306972"/>
              <a:chExt cx="2630903" cy="1132514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1073791" y="2306972"/>
                <a:ext cx="2038525" cy="1132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8" name="Group 7"/>
              <p:cNvGrpSpPr/>
              <p:nvPr/>
            </p:nvGrpSpPr>
            <p:grpSpPr>
              <a:xfrm>
                <a:off x="1073792" y="2466363"/>
                <a:ext cx="2630902" cy="646331"/>
                <a:chOff x="1073792" y="2466363"/>
                <a:chExt cx="2630902" cy="646331"/>
              </a:xfrm>
            </p:grpSpPr>
            <p:sp>
              <p:nvSpPr>
                <p:cNvPr id="6" name="TextBox 5"/>
                <p:cNvSpPr txBox="1"/>
                <p:nvPr/>
              </p:nvSpPr>
              <p:spPr>
                <a:xfrm>
                  <a:off x="1073792" y="2466363"/>
                  <a:ext cx="203852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b="1" dirty="0" smtClean="0"/>
                    <a:t>User Registration/Login</a:t>
                  </a:r>
                  <a:endParaRPr lang="en-IN" b="1" dirty="0"/>
                </a:p>
              </p:txBody>
            </p:sp>
            <p:sp>
              <p:nvSpPr>
                <p:cNvPr id="7" name="Right Arrow 6"/>
                <p:cNvSpPr/>
                <p:nvPr/>
              </p:nvSpPr>
              <p:spPr>
                <a:xfrm>
                  <a:off x="3112316" y="2679032"/>
                  <a:ext cx="592378" cy="417620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grpSp>
          <p:nvGrpSpPr>
            <p:cNvPr id="13" name="Group 12"/>
            <p:cNvGrpSpPr/>
            <p:nvPr/>
          </p:nvGrpSpPr>
          <p:grpSpPr>
            <a:xfrm>
              <a:off x="3712719" y="2266867"/>
              <a:ext cx="2638927" cy="1132514"/>
              <a:chOff x="1073791" y="2306972"/>
              <a:chExt cx="2638927" cy="1132514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1073791" y="2306972"/>
                <a:ext cx="2038525" cy="1132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15" name="Group 14"/>
              <p:cNvGrpSpPr/>
              <p:nvPr/>
            </p:nvGrpSpPr>
            <p:grpSpPr>
              <a:xfrm>
                <a:off x="1073792" y="2644967"/>
                <a:ext cx="2638926" cy="451685"/>
                <a:chOff x="1073792" y="2644967"/>
                <a:chExt cx="2638926" cy="451685"/>
              </a:xfrm>
            </p:grpSpPr>
            <p:sp>
              <p:nvSpPr>
                <p:cNvPr id="16" name="TextBox 15"/>
                <p:cNvSpPr txBox="1"/>
                <p:nvPr/>
              </p:nvSpPr>
              <p:spPr>
                <a:xfrm>
                  <a:off x="1073792" y="2644967"/>
                  <a:ext cx="20385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b="1" dirty="0" smtClean="0"/>
                    <a:t>View Dashboard</a:t>
                  </a:r>
                  <a:endParaRPr lang="en-IN" b="1" dirty="0"/>
                </a:p>
              </p:txBody>
            </p:sp>
            <p:sp>
              <p:nvSpPr>
                <p:cNvPr id="17" name="Right Arrow 16"/>
                <p:cNvSpPr/>
                <p:nvPr/>
              </p:nvSpPr>
              <p:spPr>
                <a:xfrm>
                  <a:off x="3112315" y="2679032"/>
                  <a:ext cx="600403" cy="417620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grpSp>
          <p:nvGrpSpPr>
            <p:cNvPr id="18" name="Group 17"/>
            <p:cNvGrpSpPr/>
            <p:nvPr/>
          </p:nvGrpSpPr>
          <p:grpSpPr>
            <a:xfrm>
              <a:off x="6343622" y="2266868"/>
              <a:ext cx="2583809" cy="1132514"/>
              <a:chOff x="1073791" y="2306972"/>
              <a:chExt cx="2583809" cy="1132514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1073791" y="2306972"/>
                <a:ext cx="2038525" cy="1132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20" name="Group 19"/>
              <p:cNvGrpSpPr/>
              <p:nvPr/>
            </p:nvGrpSpPr>
            <p:grpSpPr>
              <a:xfrm>
                <a:off x="1202128" y="2658867"/>
                <a:ext cx="2455472" cy="437785"/>
                <a:chOff x="1202128" y="2658867"/>
                <a:chExt cx="2455472" cy="437785"/>
              </a:xfrm>
            </p:grpSpPr>
            <p:sp>
              <p:nvSpPr>
                <p:cNvPr id="21" name="TextBox 20"/>
                <p:cNvSpPr txBox="1"/>
                <p:nvPr/>
              </p:nvSpPr>
              <p:spPr>
                <a:xfrm>
                  <a:off x="1202128" y="2658867"/>
                  <a:ext cx="20385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b="1" dirty="0" smtClean="0"/>
                    <a:t>Create New Task</a:t>
                  </a:r>
                  <a:endParaRPr lang="en-IN" b="1" dirty="0"/>
                </a:p>
              </p:txBody>
            </p:sp>
            <p:sp>
              <p:nvSpPr>
                <p:cNvPr id="22" name="Right Arrow 21"/>
                <p:cNvSpPr/>
                <p:nvPr/>
              </p:nvSpPr>
              <p:spPr>
                <a:xfrm>
                  <a:off x="3112316" y="2679032"/>
                  <a:ext cx="545284" cy="417620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grpSp>
          <p:nvGrpSpPr>
            <p:cNvPr id="23" name="Group 22"/>
            <p:cNvGrpSpPr/>
            <p:nvPr/>
          </p:nvGrpSpPr>
          <p:grpSpPr>
            <a:xfrm>
              <a:off x="8942439" y="2234783"/>
              <a:ext cx="2038525" cy="1132514"/>
              <a:chOff x="1073791" y="2306972"/>
              <a:chExt cx="2038525" cy="1132514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1073791" y="2306972"/>
                <a:ext cx="2038525" cy="1132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1073792" y="2466363"/>
                <a:ext cx="20385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 smtClean="0"/>
                  <a:t>Update Existing Task</a:t>
                </a:r>
                <a:endParaRPr lang="en-IN" b="1" dirty="0"/>
              </a:p>
            </p:txBody>
          </p:sp>
        </p:grpSp>
        <p:sp>
          <p:nvSpPr>
            <p:cNvPr id="30" name="Down Arrow 29"/>
            <p:cNvSpPr/>
            <p:nvPr/>
          </p:nvSpPr>
          <p:spPr>
            <a:xfrm>
              <a:off x="9840286" y="3375686"/>
              <a:ext cx="402672" cy="53570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012722" y="3937677"/>
              <a:ext cx="2038525" cy="1132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036417" y="4216896"/>
              <a:ext cx="20385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 smtClean="0"/>
                <a:t>Delete Completed Tasks</a:t>
              </a:r>
              <a:endParaRPr lang="en-IN" b="1" dirty="0"/>
            </a:p>
          </p:txBody>
        </p:sp>
        <p:grpSp>
          <p:nvGrpSpPr>
            <p:cNvPr id="36" name="Group 35"/>
            <p:cNvGrpSpPr/>
            <p:nvPr/>
          </p:nvGrpSpPr>
          <p:grpSpPr>
            <a:xfrm flipH="1">
              <a:off x="6498173" y="3950396"/>
              <a:ext cx="2498506" cy="1132514"/>
              <a:chOff x="-115767" y="2355099"/>
              <a:chExt cx="2596183" cy="1132514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441890" y="2355099"/>
                <a:ext cx="2038526" cy="1132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38" name="Group 37"/>
              <p:cNvGrpSpPr/>
              <p:nvPr/>
            </p:nvGrpSpPr>
            <p:grpSpPr>
              <a:xfrm>
                <a:off x="-115767" y="2723036"/>
                <a:ext cx="2561314" cy="430538"/>
                <a:chOff x="-115767" y="2723036"/>
                <a:chExt cx="2561314" cy="430538"/>
              </a:xfrm>
            </p:grpSpPr>
            <p:sp>
              <p:nvSpPr>
                <p:cNvPr id="39" name="TextBox 38"/>
                <p:cNvSpPr txBox="1"/>
                <p:nvPr/>
              </p:nvSpPr>
              <p:spPr>
                <a:xfrm>
                  <a:off x="407023" y="2723036"/>
                  <a:ext cx="20385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b="1" dirty="0" smtClean="0"/>
                    <a:t>Secure Logout</a:t>
                  </a:r>
                  <a:endParaRPr lang="en-IN" b="1" dirty="0"/>
                </a:p>
              </p:txBody>
            </p:sp>
            <p:sp>
              <p:nvSpPr>
                <p:cNvPr id="40" name="Right Arrow 39"/>
                <p:cNvSpPr/>
                <p:nvPr/>
              </p:nvSpPr>
              <p:spPr>
                <a:xfrm>
                  <a:off x="-115767" y="2735954"/>
                  <a:ext cx="545283" cy="417620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022500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Database Structure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064" y="2357306"/>
            <a:ext cx="11140580" cy="4429388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buFont typeface="Wingdings 3" charset="2"/>
              <a:buNone/>
            </a:pPr>
            <a:r>
              <a:rPr lang="en-IN" sz="3800" b="1" dirty="0"/>
              <a:t>Back4App Database Schema</a:t>
            </a:r>
          </a:p>
          <a:p>
            <a:pPr marL="0" indent="0">
              <a:buFont typeface="Wingdings 3" charset="2"/>
              <a:buNone/>
            </a:pPr>
            <a:r>
              <a:rPr lang="en-US" sz="3800" b="1" dirty="0"/>
              <a:t>Class Name:</a:t>
            </a:r>
          </a:p>
          <a:p>
            <a:r>
              <a:rPr lang="en-US" sz="3800" b="1" dirty="0" err="1" smtClean="0"/>
              <a:t>ResearchTask</a:t>
            </a:r>
            <a:endParaRPr lang="en-US" sz="3800" b="1" dirty="0" smtClean="0"/>
          </a:p>
          <a:p>
            <a:pPr marL="0" indent="0">
              <a:buNone/>
            </a:pPr>
            <a:endParaRPr lang="en-US" sz="3800" b="1" dirty="0"/>
          </a:p>
          <a:p>
            <a:pPr marL="0" indent="0">
              <a:buFont typeface="Wingdings 3" charset="2"/>
              <a:buNone/>
            </a:pPr>
            <a:r>
              <a:rPr lang="en-US" sz="3800" b="1" dirty="0"/>
              <a:t>Fields:</a:t>
            </a:r>
          </a:p>
          <a:p>
            <a:r>
              <a:rPr lang="en-US" sz="3800" b="1" dirty="0"/>
              <a:t>Title </a:t>
            </a:r>
          </a:p>
          <a:p>
            <a:r>
              <a:rPr lang="en-US" sz="3800" b="1" dirty="0"/>
              <a:t>Description </a:t>
            </a:r>
          </a:p>
          <a:p>
            <a:r>
              <a:rPr lang="en-US" sz="3800" b="1" dirty="0"/>
              <a:t>Priority </a:t>
            </a:r>
          </a:p>
          <a:p>
            <a:r>
              <a:rPr lang="en-US" sz="3800" b="1" dirty="0"/>
              <a:t>Status </a:t>
            </a:r>
          </a:p>
          <a:p>
            <a:r>
              <a:rPr lang="en-US" sz="3800" b="1" dirty="0"/>
              <a:t>Deadline </a:t>
            </a:r>
          </a:p>
          <a:p>
            <a:r>
              <a:rPr lang="en-US" sz="3800" b="1" dirty="0"/>
              <a:t>Created At </a:t>
            </a:r>
          </a:p>
          <a:p>
            <a:r>
              <a:rPr lang="en-US" sz="3800" b="1" dirty="0"/>
              <a:t>Updated At </a:t>
            </a:r>
            <a:endParaRPr lang="en-US" sz="3800" b="1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3300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949" y="2482683"/>
            <a:ext cx="11417415" cy="2156429"/>
          </a:xfrm>
        </p:spPr>
        <p:txBody>
          <a:bodyPr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Screenshots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209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1. Login Screen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13" y="2620278"/>
            <a:ext cx="5333948" cy="3000346"/>
          </a:xfrm>
        </p:spPr>
      </p:pic>
      <p:pic>
        <p:nvPicPr>
          <p:cNvPr id="6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473" y="2620278"/>
            <a:ext cx="5333948" cy="30003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674" y="5847127"/>
            <a:ext cx="5033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Fig 1a. Login loading screen (splash loading)</a:t>
            </a:r>
            <a:endParaRPr lang="en-IN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6687429" y="5831747"/>
            <a:ext cx="5033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Fig 1b. Login Screen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744768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</a:t>
            </a:r>
            <a:r>
              <a:rPr lang="en-IN" dirty="0" smtClean="0"/>
              <a:t>. Register account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028" y="2511221"/>
            <a:ext cx="6780585" cy="3814078"/>
          </a:xfrm>
        </p:spPr>
      </p:pic>
      <p:sp>
        <p:nvSpPr>
          <p:cNvPr id="7" name="TextBox 6"/>
          <p:cNvSpPr txBox="1"/>
          <p:nvPr/>
        </p:nvSpPr>
        <p:spPr>
          <a:xfrm>
            <a:off x="3397543" y="6434357"/>
            <a:ext cx="5033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Fig 2. Login loading screen (splash loading)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824779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3. Dashboard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029" y="2511221"/>
            <a:ext cx="6780583" cy="3814078"/>
          </a:xfrm>
        </p:spPr>
      </p:pic>
      <p:sp>
        <p:nvSpPr>
          <p:cNvPr id="7" name="TextBox 6"/>
          <p:cNvSpPr txBox="1"/>
          <p:nvPr/>
        </p:nvSpPr>
        <p:spPr>
          <a:xfrm>
            <a:off x="3397543" y="6434357"/>
            <a:ext cx="5033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Fig 3. Dashboard Screen (No tasks added)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075304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4. Add Tasks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029" y="2511221"/>
            <a:ext cx="6780583" cy="3814077"/>
          </a:xfrm>
        </p:spPr>
      </p:pic>
      <p:sp>
        <p:nvSpPr>
          <p:cNvPr id="7" name="TextBox 6"/>
          <p:cNvSpPr txBox="1"/>
          <p:nvPr/>
        </p:nvSpPr>
        <p:spPr>
          <a:xfrm>
            <a:off x="3397543" y="6434357"/>
            <a:ext cx="5033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Fig 4. Adding a new task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814851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5. Dashboard (After adding tasks)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13" y="2620278"/>
            <a:ext cx="5333948" cy="3000345"/>
          </a:xfrm>
        </p:spPr>
      </p:pic>
      <p:pic>
        <p:nvPicPr>
          <p:cNvPr id="6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474" y="2620278"/>
            <a:ext cx="5333946" cy="30003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674" y="5847127"/>
            <a:ext cx="5033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Fig 5a. Dashboard View 1</a:t>
            </a:r>
            <a:endParaRPr lang="en-IN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6754541" y="5823358"/>
            <a:ext cx="5033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Fig 5a. Dashboard View 2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490853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</a:t>
            </a:r>
            <a:r>
              <a:rPr lang="en-IN" dirty="0" smtClean="0"/>
              <a:t>. Delete a task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030" y="2511221"/>
            <a:ext cx="6780581" cy="3814077"/>
          </a:xfrm>
        </p:spPr>
      </p:pic>
      <p:sp>
        <p:nvSpPr>
          <p:cNvPr id="7" name="TextBox 6"/>
          <p:cNvSpPr txBox="1"/>
          <p:nvPr/>
        </p:nvSpPr>
        <p:spPr>
          <a:xfrm>
            <a:off x="3397543" y="6434357"/>
            <a:ext cx="5033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Fig 4. Deleting the Journal Paper Task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882767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</a:t>
            </a:r>
            <a:r>
              <a:rPr lang="en-IN" dirty="0" smtClean="0"/>
              <a:t>. Dashboard (After deleting a task)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632432" y="6459523"/>
            <a:ext cx="5033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Fig 7. Dashboard after deleting the task</a:t>
            </a:r>
            <a:endParaRPr lang="en-IN" sz="1200" dirty="0"/>
          </a:p>
        </p:txBody>
      </p:sp>
      <p:pic>
        <p:nvPicPr>
          <p:cNvPr id="8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029" y="2511221"/>
            <a:ext cx="6780583" cy="381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657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8. Logout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632432" y="6459523"/>
            <a:ext cx="5033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Fig 8. Logout Popup</a:t>
            </a:r>
            <a:endParaRPr lang="en-IN" sz="1200" dirty="0"/>
          </a:p>
        </p:txBody>
      </p:sp>
      <p:pic>
        <p:nvPicPr>
          <p:cNvPr id="8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030" y="2511221"/>
            <a:ext cx="6780581" cy="381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32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9. Back4app Database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14" y="2620278"/>
            <a:ext cx="5333946" cy="3000345"/>
          </a:xfrm>
        </p:spPr>
      </p:pic>
      <p:pic>
        <p:nvPicPr>
          <p:cNvPr id="6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474" y="2620278"/>
            <a:ext cx="5333946" cy="30003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674" y="5847127"/>
            <a:ext cx="5033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Fig 9a. Task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4541" y="5823358"/>
            <a:ext cx="5033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smtClean="0"/>
              <a:t>Fig 9b. User Screen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423911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Challenges Faced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 smtClean="0"/>
              <a:t>Problems</a:t>
            </a:r>
          </a:p>
          <a:p>
            <a:r>
              <a:rPr lang="en-IN" dirty="0" smtClean="0"/>
              <a:t>Parse SDK dependency issues </a:t>
            </a:r>
          </a:p>
          <a:p>
            <a:r>
              <a:rPr lang="en-IN" dirty="0" smtClean="0"/>
              <a:t>Android NDK version mismatch </a:t>
            </a:r>
          </a:p>
          <a:p>
            <a:r>
              <a:rPr lang="en-IN" dirty="0" smtClean="0"/>
              <a:t>Permission denied in Back4App </a:t>
            </a:r>
          </a:p>
          <a:p>
            <a:r>
              <a:rPr lang="en-IN" dirty="0" smtClean="0"/>
              <a:t>Flutter build errors </a:t>
            </a:r>
          </a:p>
          <a:p>
            <a:r>
              <a:rPr lang="en-IN" dirty="0" smtClean="0"/>
              <a:t>GitHub push conflicts </a:t>
            </a:r>
          </a:p>
          <a:p>
            <a:r>
              <a:rPr lang="en-IN" dirty="0" smtClean="0"/>
              <a:t>Date picker UI issues </a:t>
            </a:r>
          </a:p>
          <a:p>
            <a:pPr marL="0" indent="0">
              <a:buNone/>
            </a:pPr>
            <a:r>
              <a:rPr lang="en-IN" b="1" dirty="0" smtClean="0"/>
              <a:t>Solutions</a:t>
            </a:r>
          </a:p>
          <a:p>
            <a:r>
              <a:rPr lang="en-IN" dirty="0" smtClean="0"/>
              <a:t>Resolved using proper package versions, permissions setup, and UI redesign.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90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Learning Outcomes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en-IN" b="1" dirty="0" smtClean="0"/>
              <a:t>Technical Learning</a:t>
            </a:r>
          </a:p>
          <a:p>
            <a:r>
              <a:rPr lang="en-IN" dirty="0" smtClean="0"/>
              <a:t>Flutter CRUD implementation </a:t>
            </a:r>
          </a:p>
          <a:p>
            <a:r>
              <a:rPr lang="en-IN" dirty="0" smtClean="0"/>
              <a:t>Back4App integration </a:t>
            </a:r>
          </a:p>
          <a:p>
            <a:r>
              <a:rPr lang="en-IN" dirty="0" smtClean="0"/>
              <a:t>Parse SDK usage </a:t>
            </a:r>
          </a:p>
          <a:p>
            <a:r>
              <a:rPr lang="en-IN" dirty="0" smtClean="0"/>
              <a:t>Authentication handling </a:t>
            </a:r>
          </a:p>
          <a:p>
            <a:r>
              <a:rPr lang="en-IN" dirty="0" smtClean="0"/>
              <a:t>Cloud database operations </a:t>
            </a:r>
          </a:p>
          <a:p>
            <a:r>
              <a:rPr lang="en-IN" dirty="0" smtClean="0"/>
              <a:t>GitHub project management </a:t>
            </a:r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Practical Learning</a:t>
            </a:r>
          </a:p>
          <a:p>
            <a:r>
              <a:rPr lang="en-IN" dirty="0" smtClean="0"/>
              <a:t>Real-world debugging </a:t>
            </a:r>
          </a:p>
          <a:p>
            <a:r>
              <a:rPr lang="en-IN" dirty="0" smtClean="0"/>
              <a:t>Error solving </a:t>
            </a:r>
          </a:p>
          <a:p>
            <a:r>
              <a:rPr lang="en-IN" dirty="0" smtClean="0"/>
              <a:t>UI/UX improvements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3236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Conclusion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Campus Research Workflow Manager successfully demonstrates:</a:t>
            </a:r>
          </a:p>
          <a:p>
            <a:r>
              <a:rPr lang="en-US" dirty="0" smtClean="0"/>
              <a:t>Flutter Frontend Development</a:t>
            </a:r>
          </a:p>
          <a:p>
            <a:r>
              <a:rPr lang="en-US" dirty="0" smtClean="0"/>
              <a:t>Back4App Backend Integration</a:t>
            </a:r>
          </a:p>
          <a:p>
            <a:r>
              <a:rPr lang="en-US" dirty="0" smtClean="0"/>
              <a:t>Real-time CRUD Operations</a:t>
            </a:r>
          </a:p>
          <a:p>
            <a:r>
              <a:rPr lang="en-US" dirty="0" smtClean="0"/>
              <a:t>Secure User Authentication</a:t>
            </a:r>
          </a:p>
          <a:p>
            <a:r>
              <a:rPr lang="en-US" dirty="0" smtClean="0"/>
              <a:t>Cloud-Based Task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7944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Links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Github</a:t>
            </a:r>
            <a:r>
              <a:rPr lang="en-IN" dirty="0" smtClean="0"/>
              <a:t> </a:t>
            </a:r>
            <a:r>
              <a:rPr lang="en-IN" dirty="0"/>
              <a:t>Link: </a:t>
            </a:r>
            <a:endParaRPr lang="en-IN" dirty="0" smtClean="0"/>
          </a:p>
          <a:p>
            <a:pPr lvl="1"/>
            <a:r>
              <a:rPr lang="en-IN" dirty="0" smtClean="0"/>
              <a:t>https</a:t>
            </a:r>
            <a:r>
              <a:rPr lang="en-IN" dirty="0"/>
              <a:t>://github.com/SaravananS-Wilp/flutter-campus-research-workflow-manager</a:t>
            </a:r>
            <a:endParaRPr lang="en-IN" dirty="0" smtClean="0"/>
          </a:p>
          <a:p>
            <a:r>
              <a:rPr lang="en-IN" dirty="0" err="1" smtClean="0"/>
              <a:t>Youtube</a:t>
            </a:r>
            <a:r>
              <a:rPr lang="en-IN" dirty="0" smtClean="0"/>
              <a:t> Link: </a:t>
            </a:r>
          </a:p>
          <a:p>
            <a:pPr lvl="1"/>
            <a:r>
              <a:rPr lang="en-IN"/>
              <a:t>https://youtu.be/aYdxLi7uMEQ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58276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86</TotalTime>
  <Words>466</Words>
  <Application>Microsoft Office PowerPoint</Application>
  <PresentationFormat>Widescreen</PresentationFormat>
  <Paragraphs>140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Century Gothic</vt:lpstr>
      <vt:lpstr>Wingdings 3</vt:lpstr>
      <vt:lpstr>Ion Boardroom</vt:lpstr>
      <vt:lpstr>Campus Research Workflow Manager</vt:lpstr>
      <vt:lpstr>Project Overview</vt:lpstr>
      <vt:lpstr>Problem Statement</vt:lpstr>
      <vt:lpstr>Usage of Back4App(Baas)</vt:lpstr>
      <vt:lpstr>Technology Stack</vt:lpstr>
      <vt:lpstr>Key Features</vt:lpstr>
      <vt:lpstr>Application Workflow</vt:lpstr>
      <vt:lpstr>Database Structure</vt:lpstr>
      <vt:lpstr>Screenshots</vt:lpstr>
      <vt:lpstr>1. Login Screen</vt:lpstr>
      <vt:lpstr>2. Register account</vt:lpstr>
      <vt:lpstr>3. Dashboard</vt:lpstr>
      <vt:lpstr>4. Add Tasks</vt:lpstr>
      <vt:lpstr>5. Dashboard (After adding tasks)</vt:lpstr>
      <vt:lpstr>6. Delete a task</vt:lpstr>
      <vt:lpstr>7. Dashboard (After deleting a task)</vt:lpstr>
      <vt:lpstr>8. Logout</vt:lpstr>
      <vt:lpstr>9. Back4app Database</vt:lpstr>
      <vt:lpstr>Challenges Faced</vt:lpstr>
      <vt:lpstr>Learning Outcomes</vt:lpstr>
      <vt:lpstr>Conclusion</vt:lpstr>
      <vt:lpstr>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Research Workflow Manager</dc:title>
  <dc:creator>NIC-DIO</dc:creator>
  <cp:lastModifiedBy>NIC-DIO</cp:lastModifiedBy>
  <cp:revision>9</cp:revision>
  <dcterms:created xsi:type="dcterms:W3CDTF">2026-04-29T15:07:21Z</dcterms:created>
  <dcterms:modified xsi:type="dcterms:W3CDTF">2026-04-29T17:08:15Z</dcterms:modified>
</cp:coreProperties>
</file>